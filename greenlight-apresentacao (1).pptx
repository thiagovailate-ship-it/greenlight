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Abertura: apresentar o Greenlight — landing page de uma ferramenta fictícia de revisão de código com IA para pull requests. Destacar desde já: HTML, CSS e JS puros, sem framework e sem etapa de build. O repositório está no GitHub (link no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a estrutura: três arquivos com papéis bem separados. index.html traz todo o conteúdo e os ícones SVG inline (nada é gerado em runtime). styles.css organiza tokens, base, componentes e breakpoints. main.js cuida só de comportamento. Sem npm, sem bundler: abrir o index.html já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Percorrer as seções: hero com a demo do diff ao lado; 'como funciona' em 3 passos; grade de 6 recursos; faixa de estatísticas com números que contam ao entrar na tela; preços em 3 planos; e o CTA final no footer. Tudo ancorado por links do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Detalhar os quatro comportamentos do main.js. Destaque para a demo do diff: uma única linha do tempo de setTimeouts — linhas em stagger de 60 ms, comentário, checagens uma a uma e o chip final com pulso; o botão de replay reinicia tudo. Count-ups usam requestAnimationFrame com easeOutCubic. Reveals usam IntersectionObserver e disparam uma única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 forte do projeto: acessibilidade não foi um ajuste de última hora. Sem JS o site continua 100% legível (o estado 'escondido' dos reveals só existe sob a classe .js). Quem prefere movimento reduzido recebe a página estática e completa; quem prefere menos transparência recebe fundos opacos. No responsivo: mobile-first com três breakpoints e menu em painel próprio.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reforçando os aprendizados: separação de camadas, acessibilidade desde o início, animação como progresso enhancements e a vantagem de zero dependências — qualquer pessoa pode abrir o repositório e ler tudo que acontece na tela. Agradecer e abrir para perguntas. (O rodapé deste slide é o footer real do site.)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 1 (arquitetura e JS): responder com segurança que a escolha por vanilla foi deliberada — menos dependência, menos bundle, mais controle. Sem JS o site não quebra: é a demonstração prática de progressive enhancement. IntersectionObserver e rAF são as APIs certas para cada trabalho: observar visibilidade e animar por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 2 (qualidade e futuro): acessibilidade como requisito, não cosmético; SVG inline por performance e consistência visual; tokens como sistema de design mínimo; e um caminho de evolução honesto — módulos, testes e CI — sem jogar fora a base semântica.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686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  <a:ea typeface="Consolas"/>
              </a:rPr>
              <a:t>// aula de programação web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9844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Consolas"/>
                <a:ea typeface="Consolas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5"/>
                </a:solidFill>
                <a:latin typeface="Consolas"/>
                <a:ea typeface="Consolas"/>
              </a:rPr>
              <a:t>Todo PR recebe
o sinal verde.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10128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  <a:ea typeface="Segoe UI"/>
              </a:rPr>
              <a:t>Landing page de uma ferramenta fictícia de revisão de código com IA para pull requests — construída em HTML, CSS e JavaScript puros, sem framework e sem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407408"/>
            <a:ext cx="1580083" cy="384048"/>
          </a:xfrm>
          <a:prstGeom prst="roundRect">
            <a:avLst>
              <a:gd name="adj" fmla="val 50000"/>
            </a:avLst>
          </a:prstGeom>
          <a:solidFill>
            <a:srgbClr val="0D1411"/>
          </a:solidFill>
          <a:ln w="12700">
            <a:solidFill>
              <a:srgbClr val="24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0584" bIns="1280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E7B7"/>
                </a:solidFill>
                <a:latin typeface="Consolas"/>
                <a:ea typeface="Consolas"/>
              </a:rPr>
              <a:t>HTML semântico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4755" y="4407408"/>
            <a:ext cx="1580083" cy="384048"/>
          </a:xfrm>
          <a:prstGeom prst="roundRect">
            <a:avLst>
              <a:gd name="adj" fmla="val 50000"/>
            </a:avLst>
          </a:prstGeom>
          <a:solidFill>
            <a:srgbClr val="0D1411"/>
          </a:solidFill>
          <a:ln w="12700">
            <a:solidFill>
              <a:srgbClr val="24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0584" bIns="1280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E7B7"/>
                </a:solidFill>
                <a:latin typeface="Consolas"/>
                <a:ea typeface="Consolas"/>
              </a:rPr>
              <a:t>CSS com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29430" y="4407408"/>
            <a:ext cx="2046427" cy="384048"/>
          </a:xfrm>
          <a:prstGeom prst="roundRect">
            <a:avLst>
              <a:gd name="adj" fmla="val 50000"/>
            </a:avLst>
          </a:prstGeom>
          <a:solidFill>
            <a:srgbClr val="0D1411"/>
          </a:solidFill>
          <a:ln w="12700">
            <a:solidFill>
              <a:srgbClr val="24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0584" bIns="1280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E7B7"/>
                </a:solidFill>
                <a:latin typeface="Consolas"/>
                <a:ea typeface="Consolas"/>
              </a:rPr>
              <a:t>JS sem dependências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3892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4F4F5"/>
                </a:solidFill>
                <a:latin typeface="Consolas"/>
                <a:ea typeface="Consolas"/>
              </a:rPr>
              <a:t>Thiago</a:t>
            </a:r>
            <a:r>
              <a:rPr sz="1250" b="0" i="0">
                <a:solidFill>
                  <a:srgbClr val="A1A1AA"/>
                </a:solidFill>
                <a:latin typeface="Consolas"/>
                <a:ea typeface="Consolas"/>
              </a:rPr>
              <a:t>  ·  github.com/</a:t>
            </a:r>
            <a:r>
              <a:rPr sz="1250" b="0" i="0">
                <a:solidFill>
                  <a:srgbClr val="34D399"/>
                </a:solidFill>
                <a:latin typeface="Consolas"/>
                <a:ea typeface="Consolas"/>
              </a:rPr>
              <a:t>thiagovailate-ship-it/greenlight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17A"/>
                </a:solidFill>
                <a:latin typeface="Consolas"/>
                <a:ea typeface="Consolas"/>
              </a:rPr>
              <a:t>apresentação do projeto · outubro de 2026</a:t>
            </a:r>
          </a:p>
        </p:txBody>
      </p:sp>
      <p:pic>
        <p:nvPicPr>
          <p:cNvPr id="11" name="Picture 10" descr="0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486400" cy="3429000"/>
          </a:xfrm>
          <a:prstGeom prst="rect">
            <a:avLst/>
          </a:prstGeom>
          <a:ln w="15875">
            <a:solidFill>
              <a:srgbClr val="242826"/>
            </a:solidFill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6263640" y="4956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hero — “Todo PR recebe o sinal verde.”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greenlight — landing page em HTML, CSS e JS puro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455664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4D399"/>
                </a:solidFill>
                <a:latin typeface="Consolas"/>
                <a:ea typeface="Consolas"/>
              </a:rPr>
              <a:t>01</a:t>
            </a: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  <a:ea typeface="Consolas"/>
              </a:rPr>
              <a:t>// 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4F4F5"/>
                </a:solidFill>
                <a:latin typeface="Consolas"/>
                <a:ea typeface="Consolas"/>
              </a:rPr>
              <a:t>Três arquivos, zero dependências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greenlight — landing page em HTML, CSS e JS puro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55664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4D399"/>
                </a:solidFill>
                <a:latin typeface="Consolas"/>
                <a:ea typeface="Consolas"/>
              </a:rPr>
              <a:t>02</a:t>
            </a: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11296" cy="1828800"/>
          </a:xfrm>
          <a:prstGeom prst="roundRect">
            <a:avLst>
              <a:gd name="adj" fmla="val 4500"/>
            </a:avLst>
          </a:prstGeom>
          <a:solidFill>
            <a:srgbClr val="0D1411"/>
          </a:solidFill>
          <a:ln w="12700">
            <a:solidFill>
              <a:srgbClr val="24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2801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4D399"/>
                </a:solidFill>
                <a:latin typeface="Consolas"/>
                <a:ea typeface="Consolas"/>
              </a:rPr>
              <a:t>index.html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  <a:ea typeface="Consolas"/>
              </a:rPr>
              <a:t>1.157 linhas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4D8"/>
                </a:solidFill>
                <a:latin typeface="Segoe UI"/>
                <a:ea typeface="Segoe UI"/>
              </a:rPr>
              <a:t>Todo o conteúdo e os ícones SVG inline — nada é gerado em runtime.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691640"/>
            <a:ext cx="3511296" cy="1828800"/>
          </a:xfrm>
          <a:prstGeom prst="roundRect">
            <a:avLst>
              <a:gd name="adj" fmla="val 4500"/>
            </a:avLst>
          </a:prstGeom>
          <a:solidFill>
            <a:srgbClr val="0D1411"/>
          </a:solidFill>
          <a:ln w="12700">
            <a:solidFill>
              <a:srgbClr val="24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2801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4D399"/>
                </a:solidFill>
                <a:latin typeface="Consolas"/>
                <a:ea typeface="Consolas"/>
              </a:rPr>
              <a:t>styles.css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  <a:ea typeface="Consolas"/>
              </a:rPr>
              <a:t>1.408 linhas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4D8"/>
                </a:solidFill>
                <a:latin typeface="Segoe UI"/>
                <a:ea typeface="Segoe UI"/>
              </a:rPr>
              <a:t>Tokens de design, base, componentes, breakpoints e preferências do usuário.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1691640"/>
            <a:ext cx="3511296" cy="1828800"/>
          </a:xfrm>
          <a:prstGeom prst="roundRect">
            <a:avLst>
              <a:gd name="adj" fmla="val 4500"/>
            </a:avLst>
          </a:prstGeom>
          <a:solidFill>
            <a:srgbClr val="0D1411"/>
          </a:solidFill>
          <a:ln w="12700">
            <a:solidFill>
              <a:srgbClr val="24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2801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4D399"/>
                </a:solidFill>
                <a:latin typeface="Consolas"/>
                <a:ea typeface="Consolas"/>
              </a:rPr>
              <a:t>main.js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  <a:ea typeface="Consolas"/>
              </a:rPr>
              <a:t>252 linhas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4D8"/>
                </a:solidFill>
                <a:latin typeface="Segoe UI"/>
                <a:ea typeface="Segoe UI"/>
              </a:rPr>
              <a:t>Só comportamento: menu, sequência do diff, count-ups e reveals.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250" b="0" i="0">
                <a:solidFill>
                  <a:srgbClr val="D4D4D8"/>
                </a:solidFill>
                <a:latin typeface="Segoe UI"/>
                <a:ea typeface="Segoe UI"/>
              </a:rPr>
              <a:t>Sem framework e sem build: é abrir o index.html e o site funciona — direto do filesystem ou de qualquer servidor estático.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250" b="0" i="0">
                <a:solidFill>
                  <a:srgbClr val="D4D4D8"/>
                </a:solidFill>
                <a:latin typeface="Segoe UI"/>
                <a:ea typeface="Segoe UI"/>
              </a:rPr>
              <a:t>Separação de responsabilidades: conteúdo, apresentação e comportamento vivem em arquivos próprios.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250" b="0" i="0">
                <a:solidFill>
                  <a:srgbClr val="D4D4D8"/>
                </a:solidFill>
                <a:latin typeface="Segoe UI"/>
                <a:ea typeface="Segoe UI"/>
              </a:rPr>
              <a:t>Progressive enhancement: sem JavaScript, todo o conteúdo continua visível e o painel do diff já nasce no estado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  <a:ea typeface="Consolas"/>
              </a:rPr>
              <a:t>// por dentro do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4F4F5"/>
                </a:solidFill>
                <a:latin typeface="Consolas"/>
                <a:ea typeface="Consolas"/>
              </a:rPr>
              <a:t>As seções da landing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greenlight — landing page em HTML, CSS e JS puro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55664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4D399"/>
                </a:solidFill>
                <a:latin typeface="Consolas"/>
                <a:ea typeface="Consolas"/>
              </a:rPr>
              <a:t>03</a:t>
            </a: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 / 08</a:t>
            </a:r>
          </a:p>
        </p:txBody>
      </p:sp>
      <p:pic>
        <p:nvPicPr>
          <p:cNvPr id="6" name="Picture 5" descr="02-como-funci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80183"/>
            <a:ext cx="3511296" cy="1411834"/>
          </a:xfrm>
          <a:prstGeom prst="rect">
            <a:avLst/>
          </a:prstGeom>
          <a:ln w="15875">
            <a:solidFill>
              <a:srgbClr val="242826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0080" y="4590288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4D399"/>
                </a:solidFill>
                <a:latin typeface="Consolas"/>
                <a:ea typeface="Consolas"/>
              </a:rPr>
              <a:t>#how-it-works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3511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A"/>
                </a:solidFill>
                <a:latin typeface="Segoe UI"/>
                <a:ea typeface="Segoe UI"/>
              </a:rPr>
              <a:t>da instalação ao merge em 3 passos</a:t>
            </a:r>
          </a:p>
        </p:txBody>
      </p:sp>
      <p:pic>
        <p:nvPicPr>
          <p:cNvPr id="9" name="Picture 8" descr="03-recur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970532"/>
            <a:ext cx="3511296" cy="2231136"/>
          </a:xfrm>
          <a:prstGeom prst="rect">
            <a:avLst/>
          </a:prstGeom>
          <a:ln w="15875">
            <a:solidFill>
              <a:srgbClr val="242826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4334256" y="4590288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4D399"/>
                </a:solidFill>
                <a:latin typeface="Consolas"/>
                <a:ea typeface="Consolas"/>
              </a:rPr>
              <a:t>#features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4256" y="4846320"/>
            <a:ext cx="3511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A"/>
                </a:solidFill>
                <a:latin typeface="Segoe UI"/>
                <a:ea typeface="Segoe UI"/>
              </a:rPr>
              <a:t>6 cards: “tudo o que um revisor sênior diria”</a:t>
            </a:r>
          </a:p>
        </p:txBody>
      </p:sp>
      <p:pic>
        <p:nvPicPr>
          <p:cNvPr id="12" name="Picture 11" descr="04-prec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127808"/>
            <a:ext cx="3511296" cy="1916582"/>
          </a:xfrm>
          <a:prstGeom prst="rect">
            <a:avLst/>
          </a:prstGeom>
          <a:ln w="15875">
            <a:solidFill>
              <a:srgbClr val="242826"/>
            </a:solidFill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8028431" y="4590288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4D399"/>
                </a:solidFill>
                <a:latin typeface="Consolas"/>
                <a:ea typeface="Consolas"/>
              </a:rPr>
              <a:t>#pricing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4846320"/>
            <a:ext cx="3511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A"/>
                </a:solidFill>
                <a:latin typeface="Segoe UI"/>
                <a:ea typeface="Segoe UI"/>
              </a:rPr>
              <a:t>planos grátis, team e enterprise</a:t>
            </a:r>
          </a:p>
        </p:txBody>
      </p:sp>
      <p:pic>
        <p:nvPicPr>
          <p:cNvPr id="15" name="Picture 14" descr="06-sta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527" y="5577840"/>
            <a:ext cx="5120640" cy="681824"/>
          </a:xfrm>
          <a:prstGeom prst="rect">
            <a:avLst/>
          </a:prstGeom>
          <a:ln w="15875">
            <a:solidFill>
              <a:srgbClr val="242826"/>
            </a:solidFill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8857335" y="57424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717A"/>
                </a:solidFill>
                <a:latin typeface="Consolas"/>
                <a:ea typeface="Consolas"/>
              </a:rPr>
              <a:t>faixa de stats com count-up animado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  <a:ea typeface="Consolas"/>
              </a:rPr>
              <a:t>// main.js · 252 linhas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4F4F5"/>
                </a:solidFill>
                <a:latin typeface="Consolas"/>
                <a:ea typeface="Consolas"/>
              </a:rPr>
              <a:t>O que o JavaScript 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greenlight — landing page em HTML, CSS e JS puro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55664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4D399"/>
                </a:solidFill>
                <a:latin typeface="Consolas"/>
                <a:ea typeface="Consolas"/>
              </a:rPr>
              <a:t>04</a:t>
            </a: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4D399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664208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4F4F5"/>
                </a:solidFill>
                <a:latin typeface="Consolas"/>
                <a:ea typeface="Consolas"/>
              </a:rPr>
              <a:t>Menu mobile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Segoe UI"/>
                <a:ea typeface="Segoe UI"/>
              </a:rPr>
              <a:t>Abre e fecha com aria-expanded + aria-controls; Esc fecha e devolve o foco ao botão.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806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4D399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798064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4F4F5"/>
                </a:solidFill>
                <a:latin typeface="Consolas"/>
                <a:ea typeface="Consolas"/>
              </a:rPr>
              <a:t>Demo de diff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Segoe UI"/>
                <a:ea typeface="Segoe UI"/>
              </a:rPr>
              <a:t>12 linhas entram escalonadas (60 ms), depois o comentário, as 3 checagens e o chip vira “Pronto para o merge”.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4D399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93192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4F4F5"/>
                </a:solidFill>
                <a:latin typeface="Consolas"/>
                <a:ea typeface="Consolas"/>
              </a:rPr>
              <a:t>Count-ups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Segoe UI"/>
                <a:ea typeface="Segoe UI"/>
              </a:rPr>
              <a:t>1,2M · 42k · &lt;30s · 99,9% contam do zero com easeOutCubic em 1,4 s quando a faixa entra na tela.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6577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4D399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5065776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4F4F5"/>
                </a:solidFill>
                <a:latin typeface="Consolas"/>
                <a:ea typeface="Consolas"/>
              </a:rPr>
              <a:t>Reveals no scroll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Segoe UI"/>
                <a:ea typeface="Segoe UI"/>
              </a:rPr>
              <a:t>IntersectionObserver: fade + subida de 24 px, uma vez por elemento, escalonado nos grids.</a:t>
            </a:r>
          </a:p>
        </p:txBody>
      </p:sp>
      <p:pic>
        <p:nvPicPr>
          <p:cNvPr id="14" name="Picture 13" descr="05-diff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572768"/>
            <a:ext cx="4370832" cy="4101858"/>
          </a:xfrm>
          <a:prstGeom prst="rect">
            <a:avLst/>
          </a:prstGeom>
          <a:ln w="15875">
            <a:solidFill>
              <a:srgbClr val="242826"/>
            </a:solidFill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7178040" y="5779008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a demo montada pelo JS, no estado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  <a:ea typeface="Consolas"/>
              </a:rPr>
              <a:t>// acessibilidade &amp; responsividade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4F4F5"/>
                </a:solidFill>
                <a:latin typeface="Consolas"/>
                <a:ea typeface="Consolas"/>
              </a:rPr>
              <a:t>Usável em qualquer tela, com ou sem mouse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greenlight — landing page em HTML, CSS e JS puro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55664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4D399"/>
                </a:solidFill>
                <a:latin typeface="Consolas"/>
                <a:ea typeface="Consolas"/>
              </a:rPr>
              <a:t>05</a:t>
            </a: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Consolas"/>
                <a:ea typeface="Consolas"/>
              </a:rPr>
              <a:t>acessibilidade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56816"/>
            <a:ext cx="67208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150" b="0" i="0">
                <a:solidFill>
                  <a:srgbClr val="D4D4D8"/>
                </a:solidFill>
                <a:latin typeface="Segoe UI"/>
                <a:ea typeface="Segoe UI"/>
              </a:rPr>
              <a:t>Skip link para #main e landmarks header / main / footer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150" b="0" i="0">
                <a:solidFill>
                  <a:srgbClr val="D4D4D8"/>
                </a:solidFill>
                <a:latin typeface="Segoe UI"/>
                <a:ea typeface="Segoe UI"/>
              </a:rPr>
              <a:t>aria-expanded + aria-controls; Escape fecha e devolve o foco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150" b="0" i="0">
                <a:solidFill>
                  <a:srgbClr val="D4D4D8"/>
                </a:solidFill>
                <a:latin typeface="Segoe UI"/>
                <a:ea typeface="Segoe UI"/>
              </a:rPr>
              <a:t>Foco visível em todo elemento interativo (contorno esmeralda)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150" b="0" i="0">
                <a:solidFill>
                  <a:srgbClr val="D4D4D8"/>
                </a:solidFill>
                <a:latin typeface="Segoe UI"/>
                <a:ea typeface="Segoe UI"/>
              </a:rPr>
              <a:t>prefers-reduced-motion: nenhuma animação — a demo já nasce pronta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150" b="0" i="0">
                <a:solidFill>
                  <a:srgbClr val="D4D4D8"/>
                </a:solidFill>
                <a:latin typeface="Segoe UI"/>
                <a:ea typeface="Segoe UI"/>
              </a:rPr>
              <a:t>prefers-reduced-transparency: o “vidro” vira fundo opaco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150" b="0" i="0">
                <a:solidFill>
                  <a:srgbClr val="D4D4D8"/>
                </a:solidFill>
                <a:latin typeface="Segoe UI"/>
                <a:ea typeface="Segoe UI"/>
              </a:rPr>
              <a:t>Piso de contraste ≥ 4,5:1 no texto secundário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Consolas"/>
                <a:ea typeface="Consolas"/>
              </a:rPr>
              <a:t>responsividade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05656"/>
            <a:ext cx="6720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150" b="0" i="0">
                <a:solidFill>
                  <a:srgbClr val="D4D4D8"/>
                </a:solidFill>
                <a:latin typeface="Segoe UI"/>
                <a:ea typeface="Segoe UI"/>
              </a:rPr>
              <a:t>Mobile-first, com breakpoints em 640, 768 e 1024 px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150" b="0" i="0">
                <a:solidFill>
                  <a:srgbClr val="D4D4D8"/>
                </a:solidFill>
                <a:latin typeface="Segoe UI"/>
                <a:ea typeface="Segoe UI"/>
              </a:rPr>
              <a:t>No celular o menu vira painel acessível, com alvo de toque generoso</a:t>
            </a:r>
          </a:p>
        </p:txBody>
      </p:sp>
      <p:pic>
        <p:nvPicPr>
          <p:cNvPr id="10" name="Picture 9" descr="09-mobile-menu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645920"/>
            <a:ext cx="3657600" cy="2372751"/>
          </a:xfrm>
          <a:prstGeom prst="rect">
            <a:avLst/>
          </a:prstGeom>
          <a:ln w="15875">
            <a:solidFill>
              <a:srgbClr val="242826"/>
            </a:solidFill>
          </a:ln>
          <a:effectLst/>
        </p:spPr>
      </p:pic>
      <p:pic>
        <p:nvPicPr>
          <p:cNvPr id="11" name="Picture 10" descr="08-mobile-hero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4160520"/>
            <a:ext cx="2926080" cy="2149543"/>
          </a:xfrm>
          <a:prstGeom prst="rect">
            <a:avLst/>
          </a:prstGeom>
          <a:ln w="15875">
            <a:solidFill>
              <a:srgbClr val="242826"/>
            </a:solidFill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10789920" y="50292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717A"/>
                </a:solidFill>
                <a:latin typeface="Consolas"/>
                <a:ea typeface="Consolas"/>
              </a:rPr>
              <a:t>390 px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  <a:ea typeface="Consolas"/>
              </a:rPr>
              <a:t>// 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4F4F5"/>
                </a:solidFill>
                <a:latin typeface="Consolas"/>
                <a:ea typeface="Consolas"/>
              </a:rPr>
              <a:t>O que fica de aprendizado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69494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250" b="0" i="0">
                <a:solidFill>
                  <a:srgbClr val="D4D4D8"/>
                </a:solidFill>
                <a:latin typeface="Segoe UI"/>
                <a:ea typeface="Segoe UI"/>
              </a:rPr>
              <a:t>Conteúdo, apresentação e comportamento em camadas separadas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250" b="0" i="0">
                <a:solidFill>
                  <a:srgbClr val="D4D4D8"/>
                </a:solidFill>
                <a:latin typeface="Segoe UI"/>
                <a:ea typeface="Segoe UI"/>
              </a:rPr>
              <a:t>Acessibilidade e preferências do usuário desde o primeiro commit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250" b="0" i="0">
                <a:solidFill>
                  <a:srgbClr val="D4D4D8"/>
                </a:solidFill>
                <a:latin typeface="Segoe UI"/>
                <a:ea typeface="Segoe UI"/>
              </a:rPr>
              <a:t>Animação como enhancement: o site funciona inteiro sem JS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34D399"/>
                </a:solidFill>
                <a:latin typeface="Consolas"/>
                <a:ea typeface="Consolas"/>
              </a:rPr>
              <a:t>▸ </a:t>
            </a:r>
            <a:r>
              <a:rPr sz="1250" b="0" i="0">
                <a:solidFill>
                  <a:srgbClr val="D4D4D8"/>
                </a:solidFill>
                <a:latin typeface="Segoe UI"/>
                <a:ea typeface="Segoe UI"/>
              </a:rPr>
              <a:t>Zero dependências: tudo que aparece na tela dá pra ler no código-fonte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4612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1717A"/>
                </a:solidFill>
                <a:latin typeface="Consolas"/>
                <a:ea typeface="Consolas"/>
              </a:rPr>
              <a:t>“Entregue código, não revisões.” — CTA do 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6949440" cy="566928"/>
          </a:xfrm>
          <a:prstGeom prst="roundRect">
            <a:avLst>
              <a:gd name="adj" fmla="val 22580"/>
            </a:avLst>
          </a:prstGeom>
          <a:solidFill>
            <a:srgbClr val="0D1411"/>
          </a:solidFill>
          <a:ln w="12700">
            <a:solidFill>
              <a:srgbClr val="24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1280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1717A"/>
                </a:solidFill>
                <a:latin typeface="Consolas"/>
                <a:ea typeface="Consolas"/>
              </a:rPr>
              <a:t>$ open </a:t>
            </a:r>
            <a:r>
              <a:rPr sz="1200" b="0" i="0">
                <a:solidFill>
                  <a:srgbClr val="34D399"/>
                </a:solidFill>
                <a:latin typeface="Consolas"/>
                <a:ea typeface="Consolas"/>
              </a:rPr>
              <a:t>github.com/thiagovailate-ship-it/greenlight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4F4F5"/>
                </a:solidFill>
                <a:latin typeface="Consolas"/>
                <a:ea typeface="Consolas"/>
              </a:rPr>
              <a:t>obrigado! </a:t>
            </a:r>
            <a:r>
              <a:rPr sz="2100" b="0" i="0">
                <a:solidFill>
                  <a:srgbClr val="34D399"/>
                </a:solidFill>
                <a:latin typeface="Consolas"/>
                <a:ea typeface="Consolas"/>
              </a:rPr>
              <a:t>// dúvidas?</a:t>
            </a:r>
          </a:p>
        </p:txBody>
      </p:sp>
      <p:pic>
        <p:nvPicPr>
          <p:cNvPr id="8" name="Picture 7" descr="07-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842876"/>
            <a:ext cx="10908792" cy="1015124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  <a:ea typeface="Consolas"/>
              </a:rPr>
              <a:t>// faq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4F4F5"/>
                </a:solidFill>
                <a:latin typeface="Consolas"/>
                <a:ea typeface="Consolas"/>
              </a:rPr>
              <a:t>Perguntas prováveis do professor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greenlight — landing page em HTML, CSS e JS puro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55664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4D399"/>
                </a:solidFill>
                <a:latin typeface="Consolas"/>
                <a:ea typeface="Consolas"/>
              </a:rPr>
              <a:t>07</a:t>
            </a: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onsolas"/>
                <a:ea typeface="Consolas"/>
              </a:rPr>
              <a:t>P: </a:t>
            </a:r>
            <a:r>
              <a:rPr sz="1300" b="1" i="0">
                <a:solidFill>
                  <a:srgbClr val="F4F4F5"/>
                </a:solidFill>
                <a:latin typeface="Consolas"/>
                <a:ea typeface="Consolas"/>
              </a:rPr>
              <a:t>“Por que não usar um framework, tipo React?”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9385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Segoe UI"/>
                <a:ea typeface="Segoe UI"/>
              </a:rPr>
              <a:t>Porque o objetivo era dominar a plataforma: HTML, CSS e JS puros, sem etapa de build. A página funciona abrindo o index.html — e a sequência do diff, que nasceu em React, foi reescrita numa linha do tempo só de timeouts.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8064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onsolas"/>
                <a:ea typeface="Consolas"/>
              </a:rPr>
              <a:t>P: </a:t>
            </a:r>
            <a:r>
              <a:rPr sz="1300" b="1" i="0">
                <a:solidFill>
                  <a:srgbClr val="F4F4F5"/>
                </a:solidFill>
                <a:latin typeface="Consolas"/>
                <a:ea typeface="Consolas"/>
              </a:rPr>
              <a:t>“O que acontece se o JavaScript estiver desligado?”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108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Segoe UI"/>
                <a:ea typeface="Segoe UI"/>
              </a:rPr>
              <a:t>Tudo continua visível: o estado “escondido” dos reveals só existe sob a classe .js, que um script inline no &lt;head&gt; adiciona. Sem JS, a demo do diff já nasce no estado final — progressive enhancement de verdade.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68496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onsolas"/>
                <a:ea typeface="Consolas"/>
              </a:rPr>
              <a:t>P: </a:t>
            </a:r>
            <a:r>
              <a:rPr sz="1300" b="1" i="0">
                <a:solidFill>
                  <a:srgbClr val="F4F4F5"/>
                </a:solidFill>
                <a:latin typeface="Consolas"/>
                <a:ea typeface="Consolas"/>
              </a:rPr>
              <a:t>“Por que IntersectionObserver em vez de escutar o evento scroll?”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279392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Segoe UI"/>
                <a:ea typeface="Segoe UI"/>
              </a:rPr>
              <a:t>O scroll dispara a cada pixel rolado e pesa no main thread. O observer deixa o navegador decidir quando avisar: cruza o threshold, revela uma única vez (unobserve) e libera.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3892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onsolas"/>
                <a:ea typeface="Consolas"/>
              </a:rPr>
              <a:t>P: </a:t>
            </a:r>
            <a:r>
              <a:rPr sz="1300" b="1" i="0">
                <a:solidFill>
                  <a:srgbClr val="F4F4F5"/>
                </a:solidFill>
                <a:latin typeface="Consolas"/>
                <a:ea typeface="Consolas"/>
              </a:rPr>
              <a:t>“Por que requestAnimationFrame nos count-ups, e não setInterval?”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44982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Segoe UI"/>
                <a:ea typeface="Segoe UI"/>
              </a:rPr>
              <a:t>rAF sincroniza com o refresh do monitor e pausa sozinho com a aba em segundo plano. O progresso usa easeOutCubic em 1,4 s — e com prefers-reduced-motion o número já nasce no valor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  <a:ea typeface="Consolas"/>
              </a:rPr>
              <a:t>// faq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4F4F5"/>
                </a:solidFill>
                <a:latin typeface="Consolas"/>
                <a:ea typeface="Consolas"/>
              </a:rPr>
              <a:t>Perguntas prováveis do professor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greenlight — landing page em HTML, CSS e JS puro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55664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4D399"/>
                </a:solidFill>
                <a:latin typeface="Consolas"/>
                <a:ea typeface="Consolas"/>
              </a:rPr>
              <a:t>08</a:t>
            </a:r>
            <a:r>
              <a:rPr sz="900" b="0" i="0">
                <a:solidFill>
                  <a:srgbClr val="71717A"/>
                </a:solidFill>
                <a:latin typeface="Consolas"/>
                <a:ea typeface="Consolas"/>
              </a:rPr>
              <a:t>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onsolas"/>
                <a:ea typeface="Consolas"/>
              </a:rPr>
              <a:t>P: </a:t>
            </a:r>
            <a:r>
              <a:rPr sz="1300" b="1" i="0">
                <a:solidFill>
                  <a:srgbClr val="F4F4F5"/>
                </a:solidFill>
                <a:latin typeface="Consolas"/>
                <a:ea typeface="Consolas"/>
              </a:rPr>
              <a:t>“A acessibilidade vai além de alt em imagem?”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9385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Segoe UI"/>
                <a:ea typeface="Segoe UI"/>
              </a:rPr>
              <a:t>Sim: skip link e landmarks header/main/footer, aria-expanded + aria-controls no menu, Escape devolvendo o foco, foco visível em tudo, prefers-reduced-motion e prefers-reduced-transparency respeitados e piso de contraste 4,5:1.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8064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onsolas"/>
                <a:ea typeface="Consolas"/>
              </a:rPr>
              <a:t>P: </a:t>
            </a:r>
            <a:r>
              <a:rPr sz="1300" b="1" i="0">
                <a:solidFill>
                  <a:srgbClr val="F4F4F5"/>
                </a:solidFill>
                <a:latin typeface="Consolas"/>
                <a:ea typeface="Consolas"/>
              </a:rPr>
              <a:t>“Por que ícones em SVG inline, e não uma lib ou imagens?”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108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Segoe UI"/>
                <a:ea typeface="Segoe UI"/>
              </a:rPr>
              <a:t>Zero requests extras e zero dependência em runtime: os ícones vivem no próprio HTML, herdam cor com currentColor e escalam sem perder nitidez em qualquer tela.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68496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onsolas"/>
                <a:ea typeface="Consolas"/>
              </a:rPr>
              <a:t>P: </a:t>
            </a:r>
            <a:r>
              <a:rPr sz="1300" b="1" i="0">
                <a:solidFill>
                  <a:srgbClr val="F4F4F5"/>
                </a:solidFill>
                <a:latin typeface="Consolas"/>
                <a:ea typeface="Consolas"/>
              </a:rPr>
              <a:t>“Por que tokens em CSS custom properties?”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279392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Segoe UI"/>
                <a:ea typeface="Segoe UI"/>
              </a:rPr>
              <a:t>Fonte única de verdade para cor, tipografia e movimento: o tema muda em um lugar só. São os tokens que trocam o “vidro” por fundo opaco no prefers-reduced-transparency.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3892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onsolas"/>
                <a:ea typeface="Consolas"/>
              </a:rPr>
              <a:t>P: </a:t>
            </a:r>
            <a:r>
              <a:rPr sz="1300" b="1" i="0">
                <a:solidFill>
                  <a:srgbClr val="F4F4F5"/>
                </a:solidFill>
                <a:latin typeface="Consolas"/>
                <a:ea typeface="Consolas"/>
              </a:rPr>
              <a:t>“Se o projeto crescer, qual é o próximo passo?”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44982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Segoe UI"/>
                <a:ea typeface="Segoe UI"/>
              </a:rPr>
              <a:t>Dividir CSS e JS em módulos, adicionar testes e CI e extrair componentes. Como toda a semântica já está no HTML, migrar para um framework ou bundler depois é um passo seguro.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Greenlight — apresentação do projeto (Programação Web)</dc:title>
  <dc:subject/>
  <dc:creator>Thiago</dc:creator>
  <cp:keywords/>
  <dc:description>Deck gerado a partir do repositório github.com/thiagovailate-ship-it/greenlight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